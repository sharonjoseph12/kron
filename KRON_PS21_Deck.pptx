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510528"/>
            <a:ext cx="6583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KRON  ·  PREVIEW. BIND. PROVE.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064240" y="6492240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F6F50"/>
          </a:solidFill>
          <a:ln w="12700">
            <a:solidFill>
              <a:srgbClr val="1F6F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09728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spc="200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KRON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859536" y="233172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D3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capability firewall for AI agents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59536" y="301752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the blast radius. Bind the approval. Prove the enforcement.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59536" y="3977640"/>
            <a:ext cx="1508760" cy="384048"/>
          </a:xfrm>
          <a:prstGeom prst="roundRect">
            <a:avLst>
              <a:gd name="adj" fmla="val 47619"/>
            </a:avLst>
          </a:prstGeom>
          <a:solidFill>
            <a:srgbClr val="E3EFE8"/>
          </a:solidFill>
          <a:ln w="12700">
            <a:solidFill>
              <a:srgbClr val="E3EF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399592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6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87168" y="3977640"/>
            <a:ext cx="1325880" cy="384048"/>
          </a:xfrm>
          <a:prstGeom prst="roundRect">
            <a:avLst>
              <a:gd name="adj" fmla="val 47619"/>
            </a:avLst>
          </a:prstGeom>
          <a:solidFill>
            <a:srgbClr val="FBF0DF"/>
          </a:solidFill>
          <a:ln w="12700">
            <a:solidFill>
              <a:srgbClr val="FBF0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87168" y="3995928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65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931920" y="3977640"/>
            <a:ext cx="1417320" cy="384048"/>
          </a:xfrm>
          <a:prstGeom prst="roundRect">
            <a:avLst>
              <a:gd name="adj" fmla="val 47619"/>
            </a:avLst>
          </a:prstGeom>
          <a:solidFill>
            <a:srgbClr val="FBE7E4"/>
          </a:solidFill>
          <a:ln w="12700">
            <a:solidFill>
              <a:srgbClr val="FBE7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0" y="399592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59536" y="5074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2.1  ·  AI-agent safety &amp; control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59536" y="546811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sandbox-first  ·  rules-only  ·  deterministic  ·  Algorand TestNet payments preserved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59536" y="605332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D3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Don’t monitor the agent. Cap its actions.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510528"/>
            <a:ext cx="6583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KRON  ·  PREVIEW. BIND. PROVE.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064240" y="6492240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43891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1F6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786384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unit of safety is the tool call, not the prompt.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8368" y="2066544"/>
            <a:ext cx="82296" cy="256032"/>
          </a:xfrm>
          <a:prstGeom prst="rect">
            <a:avLst/>
          </a:prstGeom>
          <a:solidFill>
            <a:srgbClr val="1F6F50"/>
          </a:solidFill>
          <a:ln w="12700">
            <a:solidFill>
              <a:srgbClr val="1F6F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965960"/>
            <a:ext cx="6291072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3D3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now hold real tools: mail, files, customer data, databases, payment rails.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58368" y="2825496"/>
            <a:ext cx="82296" cy="256032"/>
          </a:xfrm>
          <a:prstGeom prst="rect">
            <a:avLst/>
          </a:prstGeom>
          <a:solidFill>
            <a:srgbClr val="1F6F50"/>
          </a:solidFill>
          <a:ln w="12700">
            <a:solidFill>
              <a:srgbClr val="1F6F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2724912"/>
            <a:ext cx="6291072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3D3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prompt injection is only dangerous when it becomes an action.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58368" y="3584448"/>
            <a:ext cx="82296" cy="256032"/>
          </a:xfrm>
          <a:prstGeom prst="rect">
            <a:avLst/>
          </a:prstGeom>
          <a:solidFill>
            <a:srgbClr val="1F6F50"/>
          </a:solidFill>
          <a:ln w="12700">
            <a:solidFill>
              <a:srgbClr val="1F6F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3483864"/>
            <a:ext cx="6291072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3D3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 tells you after the leak. Approval popups show a tool name and record a click that can be replayed.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58368" y="4343400"/>
            <a:ext cx="82296" cy="256032"/>
          </a:xfrm>
          <a:prstGeom prst="rect">
            <a:avLst/>
          </a:prstGeom>
          <a:solidFill>
            <a:srgbClr val="1F6F50"/>
          </a:solidFill>
          <a:ln w="12700">
            <a:solidFill>
              <a:srgbClr val="1F6F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4242816"/>
            <a:ext cx="6291072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3D3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 question: what exactly is the human approving, and can the agent reuse it?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818120" y="1874520"/>
            <a:ext cx="33375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8D0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01000" y="1911096"/>
            <a:ext cx="2057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3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email.read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0" y="1911096"/>
            <a:ext cx="1005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818120" y="2660904"/>
            <a:ext cx="33375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8D0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01000" y="2697480"/>
            <a:ext cx="2057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3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files.read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0" y="2697480"/>
            <a:ext cx="1005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818120" y="3447288"/>
            <a:ext cx="33375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25400">
            <a:solidFill>
              <a:srgbClr val="A65A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01000" y="3483864"/>
            <a:ext cx="2057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5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db.delete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0" y="3483864"/>
            <a:ext cx="1005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65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818120" y="4233672"/>
            <a:ext cx="33375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25400">
            <a:solidFill>
              <a:srgbClr val="B4231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01000" y="4270248"/>
            <a:ext cx="2057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23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email.send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058400" y="4270248"/>
            <a:ext cx="1005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4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dangerous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818120" y="5020056"/>
            <a:ext cx="33375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8D0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01000" y="5056632"/>
            <a:ext cx="2057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3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x402.pay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58400" y="5056632"/>
            <a:ext cx="1005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F6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818120" y="5715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B4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log line is not a control.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66928" y="6400800"/>
            <a:ext cx="11064240" cy="10973"/>
          </a:xfrm>
          <a:prstGeom prst="rect">
            <a:avLst/>
          </a:prstGeom>
          <a:solidFill>
            <a:srgbClr val="D8D0C0"/>
          </a:solidFill>
          <a:ln w="12700">
            <a:solidFill>
              <a:srgbClr val="D8D0C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510528"/>
            <a:ext cx="6583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KRON  ·  PREVIEW. BIND. PROVE.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064240" y="6492240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43891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1F6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MECHANISM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786384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path. No bypass.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03504" y="1874520"/>
            <a:ext cx="1490472" cy="1600200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12700">
            <a:solidFill>
              <a:srgbClr val="D8D0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96596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6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94944" y="2286000"/>
            <a:ext cx="13075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94944" y="2679192"/>
            <a:ext cx="130759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· write · delete · send · pay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066544" y="254203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203704" y="1874520"/>
            <a:ext cx="1490472" cy="1600200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12700">
            <a:solidFill>
              <a:srgbClr val="D8D0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13432" y="196596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6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95144" y="2286000"/>
            <a:ext cx="13075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95144" y="2679192"/>
            <a:ext cx="130759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rolled-back query on live data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66744" y="254203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803904" y="1874520"/>
            <a:ext cx="1490472" cy="1600200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12700">
            <a:solidFill>
              <a:srgbClr val="D8D0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13632" y="196596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6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895344" y="2286000"/>
            <a:ext cx="13075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95344" y="2679192"/>
            <a:ext cx="130759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+ lethal trifecta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266944" y="254203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04104" y="1874520"/>
            <a:ext cx="1490472" cy="1600200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12700">
            <a:solidFill>
              <a:srgbClr val="D8D0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13832" y="196596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6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95544" y="2286000"/>
            <a:ext cx="13075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REWRITE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95544" y="2679192"/>
            <a:ext cx="130759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alternative, revalidated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867144" y="254203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004304" y="1874520"/>
            <a:ext cx="1490472" cy="1600200"/>
          </a:xfrm>
          <a:prstGeom prst="roundRect">
            <a:avLst>
              <a:gd name="adj" fmla="val 4908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14032" y="196596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B2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095744" y="2286000"/>
            <a:ext cx="13075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095744" y="2679192"/>
            <a:ext cx="130759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D8D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 + dataset fingerprint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467344" y="254203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604504" y="1874520"/>
            <a:ext cx="1490472" cy="1600200"/>
          </a:xfrm>
          <a:prstGeom prst="roundRect">
            <a:avLst>
              <a:gd name="adj" fmla="val 4908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14232" y="196596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B2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695944" y="2286000"/>
            <a:ext cx="13075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695944" y="2679192"/>
            <a:ext cx="130759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D8D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one-shot, scoped, expiring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067544" y="254203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10204704" y="1874520"/>
            <a:ext cx="1490472" cy="1600200"/>
          </a:xfrm>
          <a:prstGeom prst="roundRect">
            <a:avLst>
              <a:gd name="adj" fmla="val 4908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314432" y="196596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B2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296144" y="2286000"/>
            <a:ext cx="13075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296144" y="2679192"/>
            <a:ext cx="130759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D8D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/ after + chain hash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58368" y="3822192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 / FLAG execute only after a verified preview matches.   HOLD needs a bound human decision.   BLOCK never reaches the adapter.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58368" y="4663440"/>
            <a:ext cx="82296" cy="914400"/>
          </a:xfrm>
          <a:prstGeom prst="rect">
            <a:avLst/>
          </a:prstGeom>
          <a:solidFill>
            <a:srgbClr val="1F6F50"/>
          </a:solidFill>
          <a:ln w="12700">
            <a:solidFill>
              <a:srgbClr val="1F6F5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9536" y="468172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decision, no grant.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59536" y="502920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adapter refuses to invoke a tool without a valid capability grant.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361688" y="4663440"/>
            <a:ext cx="82296" cy="914400"/>
          </a:xfrm>
          <a:prstGeom prst="rect">
            <a:avLst/>
          </a:prstGeom>
          <a:solidFill>
            <a:srgbClr val="1F6F50"/>
          </a:solidFill>
          <a:ln w="12700">
            <a:solidFill>
              <a:srgbClr val="1F6F5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62856" y="468172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grant, no tool call.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4562856" y="502920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Grants are consumed atomically before any tool code runs.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8065008" y="4663440"/>
            <a:ext cx="82296" cy="914400"/>
          </a:xfrm>
          <a:prstGeom prst="rect">
            <a:avLst/>
          </a:prstGeom>
          <a:solidFill>
            <a:srgbClr val="1F6F50"/>
          </a:solidFill>
          <a:ln w="12700">
            <a:solidFill>
              <a:srgbClr val="1F6F5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66176" y="468172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receipt, no claim.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8266176" y="502920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decision leaves a hash-chained proof artifact.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566928" y="6400800"/>
            <a:ext cx="11064240" cy="10973"/>
          </a:xfrm>
          <a:prstGeom prst="rect">
            <a:avLst/>
          </a:prstGeom>
          <a:solidFill>
            <a:srgbClr val="D8D0C0"/>
          </a:solidFill>
          <a:ln w="12700">
            <a:solidFill>
              <a:srgbClr val="D8D0C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510528"/>
            <a:ext cx="6583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KRON  ·  PREVIEW. BIND. PROVE.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064240" y="6492240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43891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1F6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IMPACT PREVIEW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786384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Blast radius, computed against the actual data.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8368" y="1874520"/>
            <a:ext cx="2240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0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20824"/>
            <a:ext cx="19110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ROWS AFFECTED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2258568"/>
            <a:ext cx="19110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7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1,204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22960" y="2843784"/>
            <a:ext cx="1911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delete · all orders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035808" y="1874520"/>
            <a:ext cx="2240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0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2020824"/>
            <a:ext cx="19110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 ROWS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200400" y="2258568"/>
            <a:ext cx="19110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423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200400" y="2843784"/>
            <a:ext cx="1911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with open shipments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13248" y="1874520"/>
            <a:ext cx="2240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0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2020824"/>
            <a:ext cx="19110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RECOVERABLE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577840" y="2258568"/>
            <a:ext cx="19110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423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577840" y="2843784"/>
            <a:ext cx="1911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delete is irreversible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001000" y="1975104"/>
            <a:ext cx="82296" cy="256032"/>
          </a:xfrm>
          <a:prstGeom prst="rect">
            <a:avLst/>
          </a:prstGeom>
          <a:solidFill>
            <a:srgbClr val="1F6F50"/>
          </a:solidFill>
          <a:ln w="12700">
            <a:solidFill>
              <a:srgbClr val="1F6F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02168" y="1874520"/>
            <a:ext cx="336499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D3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preview runs inside a rolled-back transaction against the real sandbox database.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001000" y="2843784"/>
            <a:ext cx="82296" cy="256032"/>
          </a:xfrm>
          <a:prstGeom prst="rect">
            <a:avLst/>
          </a:prstGeom>
          <a:solidFill>
            <a:srgbClr val="1F6F50"/>
          </a:solidFill>
          <a:ln w="12700">
            <a:solidFill>
              <a:srgbClr val="1F6F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02168" y="2743200"/>
            <a:ext cx="336499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D3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resolves rows, sensitive rows, recoverability, recipient novelty and attachment sensitivity.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8001000" y="3712464"/>
            <a:ext cx="82296" cy="256032"/>
          </a:xfrm>
          <a:prstGeom prst="rect">
            <a:avLst/>
          </a:prstGeom>
          <a:solidFill>
            <a:srgbClr val="1F6F50"/>
          </a:solidFill>
          <a:ln w="12700">
            <a:solidFill>
              <a:srgbClr val="1F6F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02168" y="3611880"/>
            <a:ext cx="336499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D3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safe rewrite is an archive, not a delete. It is re-previewed and re-scored.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8001000" y="4581144"/>
            <a:ext cx="82296" cy="256032"/>
          </a:xfrm>
          <a:prstGeom prst="rect">
            <a:avLst/>
          </a:prstGeom>
          <a:solidFill>
            <a:srgbClr val="1F6F50"/>
          </a:solidFill>
          <a:ln w="12700">
            <a:solidFill>
              <a:srgbClr val="1F6F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02168" y="4480560"/>
            <a:ext cx="336499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D3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human approves the alternative — not a silent rewrite.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58368" y="4069080"/>
            <a:ext cx="6995160" cy="1417320"/>
          </a:xfrm>
          <a:prstGeom prst="roundRect">
            <a:avLst>
              <a:gd name="adj" fmla="val 5161"/>
            </a:avLst>
          </a:prstGeom>
          <a:solidFill>
            <a:srgbClr val="E3EFE8"/>
          </a:solidFill>
          <a:ln w="12700">
            <a:solidFill>
              <a:srgbClr val="A8CF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42245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1F6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VERSION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68680" y="4517136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Archive instead of delete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868680" y="4992624"/>
            <a:ext cx="6492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1,204 rows stay recoverable for 30 days · execution still verifies the affected-row count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001000" y="54864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is not a model guess. It is a real query and a real rollback.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66928" y="6400800"/>
            <a:ext cx="11064240" cy="10973"/>
          </a:xfrm>
          <a:prstGeom prst="rect">
            <a:avLst/>
          </a:prstGeom>
          <a:solidFill>
            <a:srgbClr val="D8D0C0"/>
          </a:solidFill>
          <a:ln w="12700">
            <a:solidFill>
              <a:srgbClr val="D8D0C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510528"/>
            <a:ext cx="6583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KRON  ·  PREVIEW. BIND. PROVE.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064240" y="6492240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43891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B4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RISK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786384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that names the attack, not just a number.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8368" y="1828800"/>
            <a:ext cx="2971800" cy="3246120"/>
          </a:xfrm>
          <a:prstGeom prst="roundRect">
            <a:avLst>
              <a:gd name="adj" fmla="val 3077"/>
            </a:avLst>
          </a:prstGeom>
          <a:solidFill>
            <a:srgbClr val="FBE7E4"/>
          </a:solidFill>
          <a:ln w="19050">
            <a:solidFill>
              <a:srgbClr val="E5B0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057400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B423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</a:t>
            </a:r>
            <a:endParaRPr lang="en-US" sz="6600" dirty="0"/>
          </a:p>
        </p:txBody>
      </p:sp>
      <p:sp>
        <p:nvSpPr>
          <p:cNvPr id="9" name="Text 7"/>
          <p:cNvSpPr/>
          <p:nvPr/>
        </p:nvSpPr>
        <p:spPr>
          <a:xfrm>
            <a:off x="2331720" y="2788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23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100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33375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68680" y="3840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Lethal trifecta detected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68680" y="418795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untrusted content + private data + new outside recipient in one session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977640" y="1828800"/>
            <a:ext cx="74980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8D0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87952" y="194767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B4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UNTRUSTED CONTENT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87952" y="2221992"/>
            <a:ext cx="6995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poisoned supplier email read in-session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977640" y="2926080"/>
            <a:ext cx="74980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8D0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87952" y="304495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B4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DATA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87952" y="3319272"/>
            <a:ext cx="6995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customer-confidential contract read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977640" y="4023360"/>
            <a:ext cx="74980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8D0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87952" y="414223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B4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RECIPIENT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87952" y="4416552"/>
            <a:ext cx="6995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audit@supplier-docs.example · never seen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977640" y="523036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7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Bands:  ALLOW   ·   FLAG   ·   HOLD   ·   BLOCK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977640" y="559612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blocks cannot be approved. Safe versions can still revalidate to BLOCK.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" y="6400800"/>
            <a:ext cx="11064240" cy="10973"/>
          </a:xfrm>
          <a:prstGeom prst="rect">
            <a:avLst/>
          </a:prstGeom>
          <a:solidFill>
            <a:srgbClr val="D8D0C0"/>
          </a:solidFill>
          <a:ln w="12700">
            <a:solidFill>
              <a:srgbClr val="D8D0C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510528"/>
            <a:ext cx="6583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KRON  ·  PREVIEW. BIND. PROVE.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064240" y="6492240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43891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A65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CONSENT, NOT A CLICK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786384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human approves an artifact, not a narrative.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8368" y="1828800"/>
            <a:ext cx="6172200" cy="1874520"/>
          </a:xfrm>
          <a:prstGeom prst="roundRect">
            <a:avLst>
              <a:gd name="adj" fmla="val 2927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993392"/>
            <a:ext cx="5769864" cy="1545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DE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sha256(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DE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canonicalJson({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DE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tool, args, missionId, nonce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DE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DE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DE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9f2c…7b1e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178040" y="1929384"/>
            <a:ext cx="82296" cy="256032"/>
          </a:xfrm>
          <a:prstGeom prst="rect">
            <a:avLst/>
          </a:prstGeom>
          <a:solidFill>
            <a:srgbClr val="1F6F50"/>
          </a:solidFill>
          <a:ln w="12700">
            <a:solidFill>
              <a:srgbClr val="1F6F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79208" y="1828800"/>
            <a:ext cx="4187952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D3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change to the recipient, attachment, scope, mission or nonce produces a different hash.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178040" y="2862072"/>
            <a:ext cx="82296" cy="256032"/>
          </a:xfrm>
          <a:prstGeom prst="rect">
            <a:avLst/>
          </a:prstGeom>
          <a:solidFill>
            <a:srgbClr val="1F6F50"/>
          </a:solidFill>
          <a:ln w="12700">
            <a:solidFill>
              <a:srgbClr val="1F6F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79208" y="2761488"/>
            <a:ext cx="4187952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D3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card also stores a fingerprint of the exact rows the preview observed.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178040" y="3794760"/>
            <a:ext cx="82296" cy="256032"/>
          </a:xfrm>
          <a:prstGeom prst="rect">
            <a:avLst/>
          </a:prstGeom>
          <a:solidFill>
            <a:srgbClr val="1F6F50"/>
          </a:solidFill>
          <a:ln w="12700">
            <a:solidFill>
              <a:srgbClr val="1F6F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79208" y="3694176"/>
            <a:ext cx="4187952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D3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safe action has its own hash, preview and fingerprint.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178040" y="4727448"/>
            <a:ext cx="82296" cy="256032"/>
          </a:xfrm>
          <a:prstGeom prst="rect">
            <a:avLst/>
          </a:prstGeom>
          <a:solidFill>
            <a:srgbClr val="1F6F50"/>
          </a:solidFill>
          <a:ln w="12700">
            <a:solidFill>
              <a:srgbClr val="1F6F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79208" y="4626864"/>
            <a:ext cx="4187952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D3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Approvals expire. A stale or replayed hash is rejected with 409.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58368" y="416052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BF0DF"/>
          </a:solidFill>
          <a:ln w="12700">
            <a:solidFill>
              <a:srgbClr val="E5C7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3159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A65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DRIFT-AWARE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68680" y="45720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approval is bound to the exact action hash AND a fingerprint of the live dataset. If the world moves, consent expires.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6400800"/>
            <a:ext cx="11064240" cy="10973"/>
          </a:xfrm>
          <a:prstGeom prst="rect">
            <a:avLst/>
          </a:prstGeom>
          <a:solidFill>
            <a:srgbClr val="D8D0C0"/>
          </a:solidFill>
          <a:ln w="12700">
            <a:solidFill>
              <a:srgbClr val="D8D0C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510528"/>
            <a:ext cx="6583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KRON  ·  PREVIEW. BIND. PROVE.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064240" y="6492240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43891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B4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SHADOW-MODE DRIFT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786384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card that went stale.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8368" y="1783080"/>
            <a:ext cx="2240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0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929384"/>
            <a:ext cx="19110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PREVIEW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2167128"/>
            <a:ext cx="19110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7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826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22960" y="2752344"/>
            <a:ext cx="1911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orders at preview time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035808" y="1783080"/>
            <a:ext cx="2240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0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929384"/>
            <a:ext cx="19110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CONCURRENT JOB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200400" y="2167128"/>
            <a:ext cx="19110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65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200400" y="2752344"/>
            <a:ext cx="1911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 moved to shipped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13248" y="1783080"/>
            <a:ext cx="2240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0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1929384"/>
            <a:ext cx="19110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DATA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577840" y="2167128"/>
            <a:ext cx="19110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423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786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577840" y="2752344"/>
            <a:ext cx="1911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preview after drift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726680" y="2331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4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8183880" y="178308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66760" y="187452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409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8366760" y="24871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E7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stale approval rejected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66760" y="276148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E7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toolInvoked: false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8368" y="3758184"/>
            <a:ext cx="82296" cy="256032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" y="3657600"/>
            <a:ext cx="1068019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count alone can miss a value change; KRON binds a fingerprint of the exact rows the preview saw.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58368" y="4361688"/>
            <a:ext cx="82296" cy="256032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9536" y="4261104"/>
            <a:ext cx="1068019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stale decision produces a receipt with toolInvoked: false. Archived rows: 0.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58368" y="4965192"/>
            <a:ext cx="82296" cy="256032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9536" y="4864608"/>
            <a:ext cx="1068019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fresh preview shows 786. The human approves the new hash.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58368" y="5568696"/>
            <a:ext cx="82296" cy="256032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9536" y="5468112"/>
            <a:ext cx="1068019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Exactly 786 rows are archived. Drift invalidates consent; recovery is explicit.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58368" y="605332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B4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 mode with teeth.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66928" y="6400800"/>
            <a:ext cx="11064240" cy="10973"/>
          </a:xfrm>
          <a:prstGeom prst="rect">
            <a:avLst/>
          </a:prstGeom>
          <a:solidFill>
            <a:srgbClr val="D8D0C0"/>
          </a:solidFill>
          <a:ln w="12700">
            <a:solidFill>
              <a:srgbClr val="D8D0C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510528"/>
            <a:ext cx="6583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KRON  ·  PREVIEW. BIND. PROVE.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064240" y="6492240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43891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1F6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≠ INVOCATION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786384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One-shot capability grants.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8368" y="1828800"/>
            <a:ext cx="23317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D0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2212848"/>
            <a:ext cx="21122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17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0" y="2176272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6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19856" y="1828800"/>
            <a:ext cx="2331720" cy="1097280"/>
          </a:xfrm>
          <a:prstGeom prst="roundRect">
            <a:avLst>
              <a:gd name="adj" fmla="val 6667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2212848"/>
            <a:ext cx="21122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F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79008" y="2176272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6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181344" y="1828800"/>
            <a:ext cx="2331720" cy="1097280"/>
          </a:xfrm>
          <a:prstGeom prst="roundRect">
            <a:avLst>
              <a:gd name="adj" fmla="val 6667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91072" y="2212848"/>
            <a:ext cx="21122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F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CONSUME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540496" y="2176272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6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942832" y="1828800"/>
            <a:ext cx="2331720" cy="1097280"/>
          </a:xfrm>
          <a:prstGeom prst="roundRect">
            <a:avLst>
              <a:gd name="adj" fmla="val 6667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52560" y="2212848"/>
            <a:ext cx="21122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F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8368" y="3483864"/>
            <a:ext cx="82296" cy="256032"/>
          </a:xfrm>
          <a:prstGeom prst="rect">
            <a:avLst/>
          </a:prstGeom>
          <a:solidFill>
            <a:srgbClr val="1F6F50"/>
          </a:solidFill>
          <a:ln w="12700">
            <a:solidFill>
              <a:srgbClr val="1F6F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" y="3383280"/>
            <a:ext cx="10680192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D3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Issued only after the gateway decides the action may run.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58368" y="4059936"/>
            <a:ext cx="82296" cy="256032"/>
          </a:xfrm>
          <a:prstGeom prst="rect">
            <a:avLst/>
          </a:prstGeom>
          <a:solidFill>
            <a:srgbClr val="1F6F50"/>
          </a:solidFill>
          <a:ln w="12700">
            <a:solidFill>
              <a:srgbClr val="1F6F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" y="3959352"/>
            <a:ext cx="10680192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D3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Scoped to one agent, one tool and one canonical action hash.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58368" y="4636008"/>
            <a:ext cx="82296" cy="256032"/>
          </a:xfrm>
          <a:prstGeom prst="rect">
            <a:avLst/>
          </a:prstGeom>
          <a:solidFill>
            <a:srgbClr val="1F6F50"/>
          </a:solidFill>
          <a:ln w="12700">
            <a:solidFill>
              <a:srgbClr val="1F6F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9536" y="4535424"/>
            <a:ext cx="10680192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D3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Consumed with an atomic conditional update before the adapter touches the tool.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58368" y="5212080"/>
            <a:ext cx="82296" cy="256032"/>
          </a:xfrm>
          <a:prstGeom prst="rect">
            <a:avLst/>
          </a:prstGeom>
          <a:solidFill>
            <a:srgbClr val="1F6F50"/>
          </a:solidFill>
          <a:ln w="12700">
            <a:solidFill>
              <a:srgbClr val="1F6F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" y="5111496"/>
            <a:ext cx="10680192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D3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Expires in 60 seconds. maxUses = 1. Replay is rejected before any tool code runs.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58368" y="5788152"/>
            <a:ext cx="82296" cy="256032"/>
          </a:xfrm>
          <a:prstGeom prst="rect">
            <a:avLst/>
          </a:prstGeom>
          <a:solidFill>
            <a:srgbClr val="1F6F50"/>
          </a:solidFill>
          <a:ln w="12700">
            <a:solidFill>
              <a:srgbClr val="1F6F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9536" y="5687568"/>
            <a:ext cx="10680192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D3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approval authorises a decision; the grant authorises exactly one invocation.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66928" y="6400800"/>
            <a:ext cx="11064240" cy="10973"/>
          </a:xfrm>
          <a:prstGeom prst="rect">
            <a:avLst/>
          </a:prstGeom>
          <a:solidFill>
            <a:srgbClr val="D8D0C0"/>
          </a:solidFill>
          <a:ln w="12700">
            <a:solidFill>
              <a:srgbClr val="D8D0C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510528"/>
            <a:ext cx="6583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KRON  ·  PREVIEW. BIND. PROVE.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064240" y="6492240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43891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1F6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OF ENFORCEMENT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786384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tool did not run, the receipt proves it.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8368" y="1810512"/>
            <a:ext cx="6126480" cy="3566160"/>
          </a:xfrm>
          <a:prstGeom prst="roundRect">
            <a:avLst>
              <a:gd name="adj" fmla="val 1538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975104"/>
            <a:ext cx="5724144" cy="3236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DE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DE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"seq": 14,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DE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"tool": "email.send",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DE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"status": "executed",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DE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"toolInvoked": true,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DE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"before": {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DE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"attackerMessages": 0,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DE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"ordersArchived": 0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DE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DE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"after":  {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DE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"attackerMessages": 0,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DE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"ordersArchived": 1204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DE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DE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"approvalId": "…",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DE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"grant": { "status": "consumed" },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DE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"prevHash": "…",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DE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"hash": "…"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DE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086600" y="1911096"/>
            <a:ext cx="82296" cy="256032"/>
          </a:xfrm>
          <a:prstGeom prst="rect">
            <a:avLst/>
          </a:prstGeom>
          <a:solidFill>
            <a:srgbClr val="1F6F50"/>
          </a:solidFill>
          <a:ln w="12700">
            <a:solidFill>
              <a:srgbClr val="1F6F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87768" y="1810512"/>
            <a:ext cx="427939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3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decision emits an immutable receipt.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086600" y="2423160"/>
            <a:ext cx="82296" cy="256032"/>
          </a:xfrm>
          <a:prstGeom prst="rect">
            <a:avLst/>
          </a:prstGeom>
          <a:solidFill>
            <a:srgbClr val="1F6F50"/>
          </a:solidFill>
          <a:ln w="12700">
            <a:solidFill>
              <a:srgbClr val="1F6F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87768" y="2322576"/>
            <a:ext cx="427939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3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/ after sandbox state.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086600" y="2935224"/>
            <a:ext cx="82296" cy="256032"/>
          </a:xfrm>
          <a:prstGeom prst="rect">
            <a:avLst/>
          </a:prstGeom>
          <a:solidFill>
            <a:srgbClr val="1F6F50"/>
          </a:solidFill>
          <a:ln w="12700">
            <a:solidFill>
              <a:srgbClr val="1F6F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87768" y="2834640"/>
            <a:ext cx="427939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3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toolInvoked: true or false.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086600" y="3447288"/>
            <a:ext cx="82296" cy="256032"/>
          </a:xfrm>
          <a:prstGeom prst="rect">
            <a:avLst/>
          </a:prstGeom>
          <a:solidFill>
            <a:srgbClr val="1F6F50"/>
          </a:solidFill>
          <a:ln w="12700">
            <a:solidFill>
              <a:srgbClr val="1F6F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87768" y="3346704"/>
            <a:ext cx="427939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3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 approval and one-shot grant.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086600" y="3959352"/>
            <a:ext cx="82296" cy="256032"/>
          </a:xfrm>
          <a:prstGeom prst="rect">
            <a:avLst/>
          </a:prstGeom>
          <a:solidFill>
            <a:srgbClr val="1F6F50"/>
          </a:solidFill>
          <a:ln w="12700">
            <a:solidFill>
              <a:srgbClr val="1F6F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87768" y="3858768"/>
            <a:ext cx="427939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3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 evidence when a card was invalidated.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086600" y="4471416"/>
            <a:ext cx="82296" cy="256032"/>
          </a:xfrm>
          <a:prstGeom prst="rect">
            <a:avLst/>
          </a:prstGeom>
          <a:solidFill>
            <a:srgbClr val="1F6F50"/>
          </a:solidFill>
          <a:ln w="12700">
            <a:solidFill>
              <a:srgbClr val="1F6F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87768" y="4370832"/>
            <a:ext cx="427939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3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prevHash + hash: deleting or editing a receipt breaks the chain.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086600" y="4983480"/>
            <a:ext cx="82296" cy="256032"/>
          </a:xfrm>
          <a:prstGeom prst="rect">
            <a:avLst/>
          </a:prstGeom>
          <a:solidFill>
            <a:srgbClr val="1F6F50"/>
          </a:solidFill>
          <a:ln w="12700">
            <a:solidFill>
              <a:srgbClr val="1F6F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87768" y="4882896"/>
            <a:ext cx="427939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3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Downloadable JSON. Chain verification endpoint.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86600" y="5650992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artifact an auditor, insurer or customer can verify.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" y="6400800"/>
            <a:ext cx="11064240" cy="10973"/>
          </a:xfrm>
          <a:prstGeom prst="rect">
            <a:avLst/>
          </a:prstGeom>
          <a:solidFill>
            <a:srgbClr val="D8D0C0"/>
          </a:solidFill>
          <a:ln w="12700">
            <a:solidFill>
              <a:srgbClr val="D8D0C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510528"/>
            <a:ext cx="6583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KRON  ·  PREVIEW. BIND. PROVE.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064240" y="6492240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43891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A65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COUNTERFACTUAL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786384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ship the losing baseline.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83080"/>
          <a:ext cx="106070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931920"/>
                <a:gridCol w="39319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7F3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KRON Guard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7F3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D3A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D3A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75/100 · HOLD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D3A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 name + args only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D3A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 preview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D3A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 rows + sensitive rows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D3A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preview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D3A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Safe alternative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D3A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Internal review copy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D3A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alternative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D3A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Attacker inbox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D3A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423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D3A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Stale approval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D3A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409 · 0 executed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423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 execute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D3A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Proof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D3A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One-shot grant + receipt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423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enforcement proof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77240" y="54864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baseline is not a straw man: it is the same product with preview, risk, safe rewrite, grants and receipts removed.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66928" y="6400800"/>
            <a:ext cx="11064240" cy="10973"/>
          </a:xfrm>
          <a:prstGeom prst="rect">
            <a:avLst/>
          </a:prstGeom>
          <a:solidFill>
            <a:srgbClr val="D8D0C0"/>
          </a:solidFill>
          <a:ln w="12700">
            <a:solidFill>
              <a:srgbClr val="D8D0C0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510528"/>
            <a:ext cx="6583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KRON  ·  PREVIEW. BIND. PROVE.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064240" y="6492240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43891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1F6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786384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live model. No network. Every number from the runner.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8368" y="1783080"/>
            <a:ext cx="6492240" cy="3246120"/>
          </a:xfrm>
          <a:prstGeom prst="roundRect">
            <a:avLst>
              <a:gd name="adj" fmla="val 169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947672"/>
            <a:ext cx="6089904" cy="2916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1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pnpm demo:attack all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1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  hero      HOLD → safe internal send · attacker 0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1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  delete    HOLD → archive 1,204 · attacker 0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1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  baseline  raw approval → attacker inbox 1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1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  drift     stale 826 → live 786 · rejected 409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1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· fresh 786 archived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1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pnpm demo:proof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1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30/30 deterministic scenarios passed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498080" y="1783080"/>
            <a:ext cx="18745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0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62672" y="1929384"/>
            <a:ext cx="15453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662672" y="2167128"/>
            <a:ext cx="15453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6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30/30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662672" y="2752344"/>
            <a:ext cx="15453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repeated scenarios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509760" y="1783080"/>
            <a:ext cx="18745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0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74352" y="1929384"/>
            <a:ext cx="15453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674352" y="2167128"/>
            <a:ext cx="15453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7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124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674352" y="2752344"/>
            <a:ext cx="15453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498080" y="3383280"/>
            <a:ext cx="18745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0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62672" y="3529584"/>
            <a:ext cx="15453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662672" y="3767328"/>
            <a:ext cx="15453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7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7662672" y="4352544"/>
            <a:ext cx="15453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typecheck clean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509760" y="3383280"/>
            <a:ext cx="18745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0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74352" y="3529584"/>
            <a:ext cx="15453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MODEL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674352" y="3767328"/>
            <a:ext cx="15453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6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9674352" y="4352544"/>
            <a:ext cx="15453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only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58368" y="534924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only: .example domains · in-app mail sink · Algorand TestNet payments.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66928" y="6400800"/>
            <a:ext cx="11064240" cy="10973"/>
          </a:xfrm>
          <a:prstGeom prst="rect">
            <a:avLst/>
          </a:prstGeom>
          <a:solidFill>
            <a:srgbClr val="D8D0C0"/>
          </a:solidFill>
          <a:ln w="12700">
            <a:solidFill>
              <a:srgbClr val="D8D0C0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510528"/>
            <a:ext cx="6583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KRON  ·  PREVIEW. BIND. PROVE.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064240" y="6492240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F6F50"/>
          </a:solidFill>
          <a:ln w="12700">
            <a:solidFill>
              <a:srgbClr val="1F6F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00584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0" b="1" spc="200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KRON</a:t>
            </a:r>
            <a:endParaRPr lang="en-US" sz="6800" dirty="0"/>
          </a:p>
        </p:txBody>
      </p:sp>
      <p:sp>
        <p:nvSpPr>
          <p:cNvPr id="7" name="Text 5"/>
          <p:cNvSpPr/>
          <p:nvPr/>
        </p:nvSpPr>
        <p:spPr>
          <a:xfrm>
            <a:off x="859536" y="23317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6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Preview. Bind. Prove.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868680" y="352044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B4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31720" y="3493008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blast radius before the action.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423367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B4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31720" y="420624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 to the exact action and live dataset.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4946904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B4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31720" y="4919472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enforcement with a one-shot grant and a receipt.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" y="568756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Don’t monitor the agent. Cap its actions.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68680" y="6199632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x402 payments on Algorand still run inside the same runtime.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510528"/>
            <a:ext cx="6583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KRON  ·  PREVIEW. BIND. PROVE.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064240" y="6492240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43891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1F6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786384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8368" y="1783080"/>
            <a:ext cx="10881360" cy="3977640"/>
          </a:xfrm>
          <a:prstGeom prst="roundRect">
            <a:avLst>
              <a:gd name="adj" fmla="val 1379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947672"/>
            <a:ext cx="10479024" cy="3648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1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/ MCP client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1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│  action request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1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▼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1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KRON action gateway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1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classify · real preview · risk · safe rewrite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1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│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1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├─ ALLOW / FLAG ──► one-shot grant ──► tool adapter ──► sandbox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1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├─ HOLD ─────────► hash-bound approval ──► revalidate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1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│                   + dataset fingerprint ──► grant ──► tool adapter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1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└─ BLOCK ────────► no grant, no invocation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1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│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1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▼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1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hash-chained audit + enforcement receipts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1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│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1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└─ payment rail (x402 / Algorand TestNet) remains available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6400800"/>
            <a:ext cx="11064240" cy="10973"/>
          </a:xfrm>
          <a:prstGeom prst="rect">
            <a:avLst/>
          </a:prstGeom>
          <a:solidFill>
            <a:srgbClr val="D8D0C0"/>
          </a:solidFill>
          <a:ln w="12700">
            <a:solidFill>
              <a:srgbClr val="D8D0C0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510528"/>
            <a:ext cx="6583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KRON  ·  PREVIEW. BIND. PROVE.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064240" y="6492240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43891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B4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786384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boundaries.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8368" y="2020824"/>
            <a:ext cx="82296" cy="256032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920240"/>
            <a:ext cx="1068019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D3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data is seeded; queries, previews, mutations and proofs are real.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8368" y="2770632"/>
            <a:ext cx="82296" cy="256032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2670048"/>
            <a:ext cx="1068019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D3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is an in-app sink. No real mail leaves the machine.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58368" y="3520440"/>
            <a:ext cx="82296" cy="256032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3419856"/>
            <a:ext cx="1068019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D3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 stay on Algorand TestNet. No real funds move.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8368" y="4270248"/>
            <a:ext cx="82296" cy="256032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4169664"/>
            <a:ext cx="1068019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D3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production red-team or benchmark is claimed.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8368" y="5020056"/>
            <a:ext cx="82296" cy="256032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" y="4919472"/>
            <a:ext cx="1068019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D3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live tool adapters, mission contracts, recovery/undo, optional PS 2.2 context privacy.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8368" y="5806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3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mechanism — preview, bind, prove — is already end to end.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" y="6400800"/>
            <a:ext cx="11064240" cy="10973"/>
          </a:xfrm>
          <a:prstGeom prst="rect">
            <a:avLst/>
          </a:prstGeom>
          <a:solidFill>
            <a:srgbClr val="D8D0C0"/>
          </a:solidFill>
          <a:ln w="12700">
            <a:solidFill>
              <a:srgbClr val="D8D0C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KRON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KRON — The Capability Firewall for AI Agents</dc:title>
  <dc:subject>PS 2.1 capability firewall for AI agents</dc:subject>
  <dc:creator>KRON</dc:creator>
  <cp:lastModifiedBy>KRON</cp:lastModifiedBy>
  <cp:revision>1</cp:revision>
  <dcterms:created xsi:type="dcterms:W3CDTF">2026-10-22T15:39:35Z</dcterms:created>
  <dcterms:modified xsi:type="dcterms:W3CDTF">2026-10-22T15:39:35Z</dcterms:modified>
</cp:coreProperties>
</file>